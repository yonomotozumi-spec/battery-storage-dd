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79400"/>
            <a:ext cx="76200" cy="50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28600"/>
            <a:ext cx="10414000" cy="63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3000" b="0">
                <a:solidFill>
                  <a:srgbClr val="222222"/>
                </a:solidFill>
                <a:latin typeface="Meiryo"/>
              </a:rPr>
              <a:t>案件 「岐阜県土岐市妻木町蓄電所」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eiryo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13500"/>
            <a:ext cx="3810000" cy="381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Meiryo"/>
              </a:rPr>
              <a:t>Confidential and Proprietary,</a:t>
            </a:r>
          </a:p>
          <a:p>
            <a:pPr algn="l"/>
            <a:r>
              <a:rPr sz="700" b="0">
                <a:solidFill>
                  <a:srgbClr val="5A5A5A"/>
                </a:solidFill>
                <a:latin typeface="Meiryo"/>
              </a:rPr>
              <a:t>PowerX,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889000"/>
            <a:ext cx="10922000" cy="635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eiryo"/>
              </a:rPr>
              <a:t>・77kV 妻木変電所まで約75m、変電所に隣接した系統アクセスに優れる候補地です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eiryo"/>
              </a:rPr>
              <a:t>・接続検討回答済（工期7か月）・契約申込済で、2027年8月連系予定の案件です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000" y="1574800"/>
          <a:ext cx="5334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3683000"/>
              </a:tblGrid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76200" marR="76200" marT="25400" marB="25400" anchor="ctr">
                    <a:solidFill>
                      <a:srgbClr val="5A5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5A5A5A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住所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岐阜県土岐市妻木町西山 3246、56</a:t>
                      </a:r>
                    </a:p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座標 35.3100, 137.1736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連系出力・容量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1,990kW / 7,521kWh（想定）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地目・面積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山林／蓄電所エリア 約2,000〜2,300㎡</a:t>
                      </a:r>
                    </a:p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公道4.5m・接道 約80m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最寄り変電所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妻木変電所 77/6.6kV（約75m）</a:t>
                      </a:r>
                    </a:p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空容量 9MW／変電所スコア 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案件リスク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土砂災害警戒区域（土石流・イエロー）に該当</a:t>
                      </a:r>
                    </a:p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伐採届・埋蔵文化財の確認要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ステータス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接続検討回答済（工期7か月）、契約申込済</a:t>
                      </a:r>
                    </a:p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保証金支払済、2026/12 回答予定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地権者同意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売主にて確保（要確認）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土地契約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売買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Meiryo"/>
                        </a:rPr>
                        <a:t>連系予定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C00000"/>
                          </a:solidFill>
                          <a:latin typeface="Meiryo"/>
                        </a:rPr>
                        <a:t>2027 年 8 月（予定）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aeri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905000"/>
            <a:ext cx="53340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0000" y="5943600"/>
            <a:ext cx="5334000" cy="20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Meiryo"/>
              </a:rPr>
              <a:t>航空写真（国土地理院 シームレス空中写真）赤丸＝候補地点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5000" y="6172200"/>
            <a:ext cx="8509000" cy="228600"/>
          </a:xfrm>
          <a:prstGeom prst="rect">
            <a:avLst/>
          </a:prstGeom>
          <a:solidFill>
            <a:srgbClr val="9E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5000" y="6172200"/>
            <a:ext cx="8509000" cy="228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投資サマリ　</a:t>
            </a:r>
            <a:r>
              <a:rPr sz="900" b="0">
                <a:solidFill>
                  <a:srgbClr val="FFFFFF"/>
                </a:solidFill>
                <a:latin typeface="Meiryo"/>
              </a:rPr>
              <a:t>販売額確定後に収支シミュレーター v1.47 にて算定（初期投資・利回り・IRR・回収年数）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79400"/>
            <a:ext cx="76200" cy="50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28600"/>
            <a:ext cx="10414000" cy="635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3000" b="0">
                <a:solidFill>
                  <a:srgbClr val="222222"/>
                </a:solidFill>
                <a:latin typeface="Meiryo"/>
              </a:rPr>
              <a:t>Appendix　机上DD結果（ハザード・許認可・系統）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6000" y="127000"/>
            <a:ext cx="889000" cy="381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eiryo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13500"/>
            <a:ext cx="3810000" cy="381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700" b="0">
                <a:solidFill>
                  <a:srgbClr val="5A5A5A"/>
                </a:solidFill>
                <a:latin typeface="Meiryo"/>
              </a:rPr>
              <a:t>Confidential and Proprietary,</a:t>
            </a:r>
          </a:p>
          <a:p>
            <a:pPr algn="l"/>
            <a:r>
              <a:rPr sz="700" b="0">
                <a:solidFill>
                  <a:srgbClr val="5A5A5A"/>
                </a:solidFill>
                <a:latin typeface="Meiryo"/>
              </a:rPr>
              <a:t>PowerX,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70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Meiryo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8000" y="1016000"/>
          <a:ext cx="584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317500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76200" marR="76200" marT="25400" marB="25400" anchor="ctr">
                    <a:solidFill>
                      <a:srgbClr val="5A5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判定</a:t>
                      </a:r>
                    </a:p>
                  </a:txBody>
                  <a:tcPr marL="76200" marR="76200" marT="25400" marB="25400" anchor="ctr">
                    <a:solidFill>
                      <a:srgbClr val="5A5A5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浸水（洪水・内水・高潮・津波）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該当なし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土砂災害警戒区域（土石流）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</a:rPr>
                        <a:t>該当（蓄電所エリアがイエロー内の見込み）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急傾斜地（警戒・特別警戒）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地点は区域外／北 約200〜300m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地すべり・大規模盛土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該当なし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液状化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液状化しにくい（丘陵）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地震（30年・震度6弱以上）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2.7%（地盤良好 AVS30=407m/s）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都市計画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非線引き都市計画区域・用途地域なし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自然公園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該当なし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条例（蓄電池規制）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土岐市・岐阜県とも収録なし</a:t>
                      </a:r>
                    </a:p>
                  </a:txBody>
                  <a:tcPr marL="76200" marR="76200" marT="25400" marB="25400" anchor="ctr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Meiryo"/>
                        </a:rPr>
                        <a:t>変電所スコア（系統80＋近接20）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Meiryo"/>
                        </a:rPr>
                        <a:t>69点／100点（ランクA）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az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1016000"/>
            <a:ext cx="4953000" cy="4622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31000" y="5664200"/>
            <a:ext cx="4953000" cy="381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Meiryo"/>
              </a:rPr>
              <a:t>黄＝土砂災害警戒区域（土石流）、赤＝特別警戒区域、薄紫＝急傾斜地崩壊危険箇所</a:t>
            </a:r>
          </a:p>
          <a:p>
            <a:pPr algn="l"/>
            <a:r>
              <a:rPr sz="800" b="0">
                <a:solidFill>
                  <a:srgbClr val="5A5A5A"/>
                </a:solidFill>
                <a:latin typeface="Meiryo"/>
              </a:rPr>
              <a:t>赤丸＝候補地点、水色四角＝妻木変電所（重ねるハザードマップ）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5334000"/>
            <a:ext cx="5969000" cy="101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Meiryo"/>
              </a:rPr>
              <a:t>※ 要確認：①特別警戒区域（レッド）に掛からないことの筆単位確認　②森林法（伐採届・保安林）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Meiryo"/>
              </a:rPr>
              <a:t>　③埋蔵文化財包蔵地（美濃焼の古窯跡が多い地域）　④開発許可（DCエリアと一体で3,000㎡超の場合）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Meiryo"/>
              </a:rPr>
              <a:t>※ 出典：国交省 不動産情報ライブラリ、国土地理院、J-SHIS（2020年版）、変電所スコアリング v1。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Meiryo"/>
              </a:rPr>
              <a:t>　自動判定はスクリーニング補助であり、最終確認は各行政窓口・現地で行う。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